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B96E"/>
                </a:solidFill>
              </a:defRPr>
            </a:pPr>
            <a:r>
              <a:t>ARCHITECTURAL GENERATIVE-AI RESEARCH PILOT</a:t>
            </a:r>
          </a:p>
          <a:p>
            <a:pPr>
              <a:spcBef>
                <a:spcPts val="800"/>
              </a:spcBef>
              <a:defRPr sz="3200" b="1">
                <a:solidFill>
                  <a:srgbClr val="F5F7FA"/>
                </a:solidFill>
              </a:defRPr>
            </a:pPr>
            <a:r>
              <a:t>Architectural Styles LoRA: Diffusion Fine-Tuning Pilot</a:t>
            </a:r>
          </a:p>
          <a:p>
            <a:pPr>
              <a:spcBef>
                <a:spcPts val="1000"/>
              </a:spcBef>
              <a:defRPr sz="1800">
                <a:solidFill>
                  <a:srgbClr val="73C3EB"/>
                </a:solidFill>
              </a:defRPr>
            </a:pPr>
            <a:r>
              <a:t>Curating, Fine-Tuning, and Auditing an SDXL 1.0 Low-Rank Adapter for Authentic Brutalist Tectonics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663440"/>
            <a:ext cx="10362895" cy="146304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84632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F7FA"/>
                </a:solidFill>
              </a:defRPr>
            </a:pPr>
            <a:r>
              <a:t>Author: Omar Khalil</a:t>
            </a:r>
          </a:p>
          <a:p>
            <a:pPr>
              <a:spcBef>
                <a:spcPts val="400"/>
              </a:spcBef>
              <a:defRPr sz="1300">
                <a:solidFill>
                  <a:srgbClr val="E1B96E"/>
                </a:solidFill>
              </a:defRPr>
            </a:pPr>
            <a:r>
              <a:t>GitHub Repository: https://github.com/OmarKhalil2003/Architectural-Styles-LoRA</a:t>
            </a:r>
          </a:p>
          <a:p>
            <a:pPr>
              <a:spcBef>
                <a:spcPts val="400"/>
              </a:spcBef>
              <a:defRPr sz="1300">
                <a:solidFill>
                  <a:srgbClr val="AAB2C0"/>
                </a:solidFill>
              </a:defRPr>
            </a:pPr>
            <a:r>
              <a:t>Contact: omarkhalil.contact@gmail.com  |  Self-Directed Research 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B96E"/>
                </a:solidFill>
              </a:defRPr>
            </a:pPr>
            <a:r>
              <a:t>01. RESEARCH MOTIVATION</a:t>
            </a:r>
          </a:p>
          <a:p>
            <a:pPr>
              <a:defRPr sz="2400" b="1">
                <a:solidFill>
                  <a:srgbClr val="F5F7FA"/>
                </a:solidFill>
              </a:defRPr>
            </a:pPr>
            <a:r>
              <a:t>The Problem: Tectonic Hallucination in Foundation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1B96E"/>
                </a:solidFill>
              </a:defRPr>
            </a:pPr>
            <a:r>
              <a:t>Foundation Model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Generic Concrete Geometry: </a:t>
            </a:r>
            <a:r>
              <a:rPr sz="1300">
                <a:solidFill>
                  <a:srgbClr val="AAB2C0"/>
                </a:solidFill>
              </a:rPr>
              <a:t>Pretrained models (SDXL 1.0) collapse Brutalism into flat, smooth gray boxes lacking material depth.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Commercial Style Drift: </a:t>
            </a:r>
            <a:r>
              <a:rPr sz="1300">
                <a:solidFill>
                  <a:srgbClr val="AAB2C0"/>
                </a:solidFill>
              </a:rPr>
              <a:t>Prompts frequently inject modern polished curtain-wall glazing and aluminum composite cladding into historical styles.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Lack of Tectonic Specificity: </a:t>
            </a:r>
            <a:r>
              <a:rPr sz="1300">
                <a:solidFill>
                  <a:srgbClr val="AAB2C0"/>
                </a:solidFill>
              </a:rPr>
              <a:t>Models fail to differentiate board-marked timber formwork, bush-hammered aggregate, and cast-in-place concrete joints.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Superficial Pastiche: </a:t>
            </a:r>
            <a:r>
              <a:rPr sz="1300">
                <a:solidFill>
                  <a:srgbClr val="AAB2C0"/>
                </a:solidFill>
              </a:rPr>
              <a:t>Architectural prompts often yield pastiche combinations rather than structurally coherent monolithic massing.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73C3EB"/>
                </a:solidFill>
              </a:defRPr>
            </a:pPr>
            <a:r>
              <a:t>Experimental Research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Parameter-Efficient Fine-Tuning: </a:t>
            </a:r>
            <a:r>
              <a:rPr sz="1300">
                <a:solidFill>
                  <a:srgbClr val="AAB2C0"/>
                </a:solidFill>
              </a:rPr>
              <a:t>Train a Low-Rank Adapter (LoRA) on SDXL 1.0 using a small, rigorously curated dataset.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Tectonic Vocabulary Induction: </a:t>
            </a:r>
            <a:r>
              <a:rPr sz="1300">
                <a:solidFill>
                  <a:srgbClr val="AAB2C0"/>
                </a:solidFill>
              </a:rPr>
              <a:t>Teach the model authentic béton brut, massive cantilevered volumes, deep window embrasures, and structural piers.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Anti-Leakage Verification: </a:t>
            </a:r>
            <a:r>
              <a:rPr sz="1300">
                <a:solidFill>
                  <a:srgbClr val="AAB2C0"/>
                </a:solidFill>
              </a:rPr>
              <a:t>Verify that the adapter does not leak competing styles (Gothic, Classical, Baroque, Postmodern, Bauhaus).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Memorization vs. Generalization: </a:t>
            </a:r>
            <a:r>
              <a:rPr sz="1300">
                <a:solidFill>
                  <a:srgbClr val="AAB2C0"/>
                </a:solidFill>
              </a:rPr>
              <a:t>Establish quantitative feature-space similarity bounds (ResNet-34) to verify genuine visual generalization.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B96E"/>
                </a:solidFill>
              </a:defRPr>
            </a:pPr>
            <a:r>
              <a:t>02. DATASET SPECIFICATION</a:t>
            </a:r>
          </a:p>
          <a:p>
            <a:pPr>
              <a:defRPr sz="2400" b="1">
                <a:solidFill>
                  <a:srgbClr val="F5F7FA"/>
                </a:solidFill>
              </a:defRPr>
            </a:pPr>
            <a:r>
              <a:t>Dataset Architecture: Multi-Style Corpus &amp; Pilot Partitioning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146304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1B96E"/>
                </a:solidFill>
              </a:defRPr>
            </a:pPr>
            <a:r>
              <a:t>112 IMAGES</a:t>
            </a:r>
          </a:p>
          <a:p>
            <a:pPr>
              <a:spcBef>
                <a:spcPts val="200"/>
              </a:spcBef>
              <a:defRPr sz="1300" b="1">
                <a:solidFill>
                  <a:srgbClr val="F5F7FA"/>
                </a:solidFill>
              </a:defRPr>
            </a:pPr>
            <a:r>
              <a:t>Balanced Multi-Style Dataset</a:t>
            </a:r>
          </a:p>
          <a:p>
            <a:pPr>
              <a:defRPr sz="1100">
                <a:solidFill>
                  <a:srgbClr val="AAB2C0"/>
                </a:solidFill>
              </a:defRPr>
            </a:pPr>
            <a:r>
              <a:t>28 Brutalism, 28 Bauhaus, 28 International, 28 Postmodern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146304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73C3EB"/>
                </a:solidFill>
              </a:defRPr>
            </a:pPr>
            <a:r>
              <a:t>28 BRUTALISM</a:t>
            </a:r>
          </a:p>
          <a:p>
            <a:pPr>
              <a:spcBef>
                <a:spcPts val="200"/>
              </a:spcBef>
              <a:defRPr sz="1300" b="1">
                <a:solidFill>
                  <a:srgbClr val="F5F7FA"/>
                </a:solidFill>
              </a:defRPr>
            </a:pPr>
            <a:r>
              <a:t>Pilot Dataset Focus</a:t>
            </a:r>
          </a:p>
          <a:p>
            <a:pPr>
              <a:defRPr sz="1100">
                <a:solidFill>
                  <a:srgbClr val="AAB2C0"/>
                </a:solidFill>
              </a:defRPr>
            </a:pPr>
            <a:r>
              <a:t>100% verified 24-bit sRGB, short edge &gt;= 1024 px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146304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830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7D79B"/>
                </a:solidFill>
              </a:defRPr>
            </a:pPr>
            <a:r>
              <a:t>0.0% LEAKAGE</a:t>
            </a:r>
          </a:p>
          <a:p>
            <a:pPr>
              <a:spcBef>
                <a:spcPts val="200"/>
              </a:spcBef>
              <a:defRPr sz="1300" b="1">
                <a:solidFill>
                  <a:srgbClr val="F5F7FA"/>
                </a:solidFill>
              </a:defRPr>
            </a:pPr>
            <a:r>
              <a:t>Site-Disjoint Splits</a:t>
            </a:r>
          </a:p>
          <a:p>
            <a:pPr>
              <a:defRPr sz="1100">
                <a:solidFill>
                  <a:srgbClr val="AAB2C0"/>
                </a:solidFill>
              </a:defRPr>
            </a:pPr>
            <a:r>
              <a:t>22 Train (17 sites), 3 Val (3 sites), 3 Held-Out Test (3 sites)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0728655" cy="283464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66160"/>
            <a:ext cx="102714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F7FA"/>
                </a:solidFill>
              </a:defRPr>
            </a:pPr>
            <a:r>
              <a:t>Site-Disjoint Split Integrity &amp; Licensing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31920"/>
            <a:ext cx="10241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300">
                <a:solidFill>
                  <a:srgbClr val="E1B96E"/>
                </a:solidFill>
              </a:rPr>
              <a:t>Training Set (22 Images): </a:t>
            </a:r>
            <a:r>
              <a:rPr sz="1300">
                <a:solidFill>
                  <a:srgbClr val="AAB2C0"/>
                </a:solidFill>
              </a:rPr>
              <a:t>Spans 17 unique architectural sites across Europe and North America (libraries, grandstands, housing blocks, research centers).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F5F7FA"/>
                </a:solidFill>
              </a:rPr>
              <a:t>Validation Set (3 Images): </a:t>
            </a:r>
            <a:r>
              <a:rPr sz="1300">
                <a:solidFill>
                  <a:srgbClr val="AAB2C0"/>
                </a:solidFill>
              </a:rPr>
              <a:t>3 completely separate sites (Hotel Zlatibor, modern pavilion, Bordeaux educational hall) used for monitoring.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73C3EB"/>
                </a:solidFill>
              </a:rPr>
              <a:t>Held-Out Test Set (3 Images): </a:t>
            </a:r>
            <a:r>
              <a:rPr sz="1300">
                <a:solidFill>
                  <a:srgbClr val="AAB2C0"/>
                </a:solidFill>
              </a:rPr>
              <a:t>3 strictly isolated sites (Batten Arts, 1180 S Beverly, 720 Spadina) reserved for out-of-distribution evaluation.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F5F7FA"/>
                </a:solidFill>
              </a:rPr>
              <a:t>License Transparency: </a:t>
            </a:r>
            <a:r>
              <a:rPr sz="1300">
                <a:solidFill>
                  <a:srgbClr val="AAB2C0"/>
                </a:solidFill>
              </a:rPr>
              <a:t>100% open licenses permitting machine learning research (CC BY-SA 4.0, CC BY 4.0, CC BY 2.0, and CC0 Public Domain). Complete per-image URLs and attribution in dataset_manifest.csv.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B96E"/>
                </a:solidFill>
              </a:defRPr>
            </a:pPr>
            <a:r>
              <a:t>03. DATASET ENGINEERING</a:t>
            </a:r>
          </a:p>
          <a:p>
            <a:pPr>
              <a:defRPr sz="2400" b="1">
                <a:solidFill>
                  <a:srgbClr val="F5F7FA"/>
                </a:solidFill>
              </a:defRPr>
            </a:pPr>
            <a:r>
              <a:t>Curatorial Auditing: Provenance, Filters &amp; Discrepancy Resolution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1B96E"/>
                </a:solidFill>
              </a:defRPr>
            </a:pPr>
            <a:r>
              <a:t>Spatial Quality Curation Filters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Resolution Standard: </a:t>
            </a:r>
            <a:r>
              <a:rPr sz="1300">
                <a:solidFill>
                  <a:srgbClr val="AAB2C0"/>
                </a:solidFill>
              </a:rPr>
              <a:t>Every image audited for short edge &gt;= 1024 px (well above the 768px training resolution) to eliminate compression noise.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Elimination of Non-Spatial Assets: </a:t>
            </a:r>
            <a:r>
              <a:rPr sz="1300">
                <a:solidFill>
                  <a:srgbClr val="AAB2C0"/>
                </a:solidFill>
              </a:rPr>
              <a:t>Filtered out floor plans, blueprints, structural section drawings, and construction diagrams.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Photographic Cleanliness: </a:t>
            </a:r>
            <a:r>
              <a:rPr sz="1300">
                <a:solidFill>
                  <a:srgbClr val="AAB2C0"/>
                </a:solidFill>
              </a:rPr>
              <a:t>Excluded tourist-crowded perspectives, extreme raking distortion, and prominent commercial signage.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Lighting &amp; Daylight Quality: </a:t>
            </a:r>
            <a:r>
              <a:rPr sz="1300">
                <a:solidFill>
                  <a:srgbClr val="AAB2C0"/>
                </a:solidFill>
              </a:rPr>
              <a:t>Selected exterior views capturing direct sunlight or diffuse daylight to reveal genuine surface formwork textures.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73C3EB"/>
                </a:solidFill>
              </a:defRPr>
            </a:pPr>
            <a:r>
              <a:t>Case Study: The ARC_0012 Discrepancy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The Initial Inconsistency: </a:t>
            </a:r>
            <a:r>
              <a:rPr sz="1300">
                <a:solidFill>
                  <a:srgbClr val="AAB2C0"/>
                </a:solidFill>
              </a:rPr>
              <a:t>Prior notes indicated ARC_0012 was rejected as a close-up Kufic foundation plaque from Mosque of Ibn Tulun.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Root-Cause Audit: </a:t>
            </a:r>
            <a:r>
              <a:rPr sz="1300">
                <a:solidFill>
                  <a:srgbClr val="AAB2C0"/>
                </a:solidFill>
              </a:rPr>
              <a:t>That exclusion belonged to an earlier, archived historical dataset. When pivoting to the 4-style 112-image modern dataset, filenames were sequentially re-indexed from ARC_0001.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Active Image Verification: </a:t>
            </a:r>
            <a:r>
              <a:rPr sz="1300">
                <a:solidFill>
                  <a:srgbClr val="AAB2C0"/>
                </a:solidFill>
              </a:rPr>
              <a:t>ARC_0012 in the clean dataset is a 1024x1360 RGB exterior photograph of a Brutalist residential block in Belgrade (Milutina Milankovica, CC BY 4.0).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Conclusion: </a:t>
            </a:r>
            <a:r>
              <a:rPr sz="1300">
                <a:solidFill>
                  <a:srgbClr val="AAB2C0"/>
                </a:solidFill>
              </a:rPr>
              <a:t>ARC_0012 legitimately belongs to the 22 training images. Zero dataset corruption exists. Formally documented in evaluation/ARC_0012_resolution.md.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B96E"/>
                </a:solidFill>
              </a:defRPr>
            </a:pPr>
            <a:r>
              <a:t>04. MODEL &amp; HYPERPARAMETERS</a:t>
            </a:r>
          </a:p>
          <a:p>
            <a:pPr>
              <a:defRPr sz="2400" b="1">
                <a:solidFill>
                  <a:srgbClr val="F5F7FA"/>
                </a:solidFill>
              </a:defRPr>
            </a:pPr>
            <a:r>
              <a:t>Diffusion LoRA Training Configuration &amp; Dynamics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714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1B96E"/>
                </a:solidFill>
              </a:defRPr>
            </a:pPr>
            <a:r>
              <a:t>Stable Diffusion XL 1.0 Parameter-Efficient Adaptation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1200">
                <a:solidFill>
                  <a:srgbClr val="73C3EB"/>
                </a:solidFill>
              </a:rPr>
              <a:t>Base Model &amp; VAE      : </a:t>
            </a:r>
            <a:r>
              <a:rPr sz="1200">
                <a:solidFill>
                  <a:srgbClr val="F5F7FA"/>
                </a:solidFill>
              </a:rPr>
              <a:t>stabilityai/stable-diffusion-xl-base-1.0  +  madebyollin/sdxl-vae-fp16-fix (FP16 numerical stability)  </a:t>
            </a:r>
            <a:r>
              <a:rPr sz="1100">
                <a:solidFill>
                  <a:srgbClr val="AAB2C0"/>
                </a:solidFill>
              </a:rPr>
              <a:t>[Foundation Diffusion Backbone]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73C3EB"/>
                </a:solidFill>
              </a:rPr>
              <a:t>Adapter Architecture  : </a:t>
            </a:r>
            <a:r>
              <a:rPr sz="1200">
                <a:solidFill>
                  <a:srgbClr val="F5F7FA"/>
                </a:solidFill>
              </a:rPr>
              <a:t>Low-Rank Adaptation (LoRA) on UNet attention projections (to_k, to_q, to_v, to_out.0)  </a:t>
            </a:r>
            <a:r>
              <a:rPr sz="1100">
                <a:solidFill>
                  <a:srgbClr val="AAB2C0"/>
                </a:solidFill>
              </a:rPr>
              <a:t>[Parameter-efficient rank 16]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73C3EB"/>
                </a:solidFill>
              </a:rPr>
              <a:t>LoRA Rank &amp; Alpha     : </a:t>
            </a:r>
            <a:r>
              <a:rPr sz="1200">
                <a:solidFill>
                  <a:srgbClr val="F5F7FA"/>
                </a:solidFill>
              </a:rPr>
              <a:t>Rank r = 16, Alpha a = 16 (1:1 scaling ratio to prevent over-saturation)  </a:t>
            </a:r>
            <a:r>
              <a:rPr sz="1100">
                <a:solidFill>
                  <a:srgbClr val="AAB2C0"/>
                </a:solidFill>
              </a:rPr>
              <a:t>[Prevents geometric memorization]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73C3EB"/>
                </a:solidFill>
              </a:rPr>
              <a:t>Text Encoders         : </a:t>
            </a:r>
            <a:r>
              <a:rPr sz="1200">
                <a:solidFill>
                  <a:srgbClr val="F5F7FA"/>
                </a:solidFill>
              </a:rPr>
              <a:t>FROZEN (OpenCLIP ViT-bigG/14 and CLIP ViT-L/14)  </a:t>
            </a:r>
            <a:r>
              <a:rPr sz="1100">
                <a:solidFill>
                  <a:srgbClr val="AAB2C0"/>
                </a:solidFill>
              </a:rPr>
              <a:t>[Preserves language prior]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73C3EB"/>
                </a:solidFill>
              </a:rPr>
              <a:t>Resolution &amp; Batch    : </a:t>
            </a:r>
            <a:r>
              <a:rPr sz="1200">
                <a:solidFill>
                  <a:srgbClr val="F5F7FA"/>
                </a:solidFill>
              </a:rPr>
              <a:t>768 x 768 px | Batch Size 1, Gradient Accumulation 4 (Effective Batch = 4)  </a:t>
            </a:r>
            <a:r>
              <a:rPr sz="1100">
                <a:solidFill>
                  <a:srgbClr val="AAB2C0"/>
                </a:solidFill>
              </a:rPr>
              <a:t>[Stable gradient estimation]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73C3EB"/>
                </a:solidFill>
              </a:rPr>
              <a:t>Optimization          : </a:t>
            </a:r>
            <a:r>
              <a:rPr sz="1200">
                <a:solidFill>
                  <a:srgbClr val="F5F7FA"/>
                </a:solidFill>
              </a:rPr>
              <a:t>AdamW (lr = 1e-4, beta1=0.9, beta2=0.999, wd=0.01) | constant_with_warmup (30 steps)  </a:t>
            </a:r>
            <a:r>
              <a:rPr sz="1100">
                <a:solidFill>
                  <a:srgbClr val="AAB2C0"/>
                </a:solidFill>
              </a:rPr>
              <a:t>[Smooth convergence]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73C3EB"/>
                </a:solidFill>
              </a:rPr>
              <a:t>Training Budget       : </a:t>
            </a:r>
            <a:r>
              <a:rPr sz="1200">
                <a:solidFill>
                  <a:srgbClr val="F5F7FA"/>
                </a:solidFill>
              </a:rPr>
              <a:t>330 optimization steps (55 epochs across 22 images) | Checkpoints @ 110, 220, 330  </a:t>
            </a:r>
            <a:r>
              <a:rPr sz="1100">
                <a:solidFill>
                  <a:srgbClr val="AAB2C0"/>
                </a:solidFill>
              </a:rPr>
              <a:t>[Preserved all checkpoints]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73C3EB"/>
                </a:solidFill>
              </a:rPr>
              <a:t>Hardware &amp; Precision  : </a:t>
            </a:r>
            <a:r>
              <a:rPr sz="1200">
                <a:solidFill>
                  <a:srgbClr val="F5F7FA"/>
                </a:solidFill>
              </a:rPr>
              <a:t>NVIDIA Tesla T4 (14.56 GB VRAM) | FP16 mixed precision + Gradient Checkpointing  </a:t>
            </a:r>
            <a:r>
              <a:rPr sz="1100">
                <a:solidFill>
                  <a:srgbClr val="AAB2C0"/>
                </a:solidFill>
              </a:rPr>
              <a:t>[Clean execution under 14 GB]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B96E"/>
                </a:solidFill>
              </a:defRPr>
            </a:pPr>
            <a:r>
              <a:t>05. BASELINE COMPARATIVE ANALYSIS</a:t>
            </a:r>
          </a:p>
          <a:p>
            <a:pPr>
              <a:defRPr sz="2400" b="1">
                <a:solidFill>
                  <a:srgbClr val="F5F7FA"/>
                </a:solidFill>
              </a:defRPr>
            </a:pPr>
            <a:r>
              <a:t>Controlled Evaluation: Base SDXL vs. SDXL LoRA v1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AB2C0"/>
                </a:solidFill>
              </a:defRPr>
            </a:pPr>
            <a:r>
              <a:t>Base SDXL 1.0 (Pretrained)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Surface Finish: </a:t>
            </a:r>
            <a:r>
              <a:rPr sz="1300">
                <a:solidFill>
                  <a:srgbClr val="AAB2C0"/>
                </a:solidFill>
              </a:rPr>
              <a:t>Smooth, flat, render-like concrete surfaces lacking authentic timber formwork texture.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Glazing &amp; Fenestration: </a:t>
            </a:r>
            <a:r>
              <a:rPr sz="1300">
                <a:solidFill>
                  <a:srgbClr val="AAB2C0"/>
                </a:solidFill>
              </a:rPr>
              <a:t>Defaults to contemporary commercial glass storefronts and standard domestic metal balcony railings.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Structural Shadowing: </a:t>
            </a:r>
            <a:r>
              <a:rPr sz="1300">
                <a:solidFill>
                  <a:srgbClr val="AAB2C0"/>
                </a:solidFill>
              </a:rPr>
              <a:t>Shallow window embrasures with weak, diffuse shadows that fail to articulate tectonic depth.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Massing Articulation: </a:t>
            </a:r>
            <a:r>
              <a:rPr sz="1300">
                <a:solidFill>
                  <a:srgbClr val="AAB2C0"/>
                </a:solidFill>
              </a:rPr>
              <a:t>Tendency toward conventional rectilinear blocks rather than aggressive, sculptural cantilevered projections.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1B96E"/>
                </a:solidFill>
              </a:defRPr>
            </a:pPr>
            <a:r>
              <a:t>SDXL LoRA v1 (Trained Adapter)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b="1" sz="1300">
                <a:solidFill>
                  <a:srgbClr val="E1B96E"/>
                </a:solidFill>
              </a:rPr>
              <a:t>Authentic Beton Brut: </a:t>
            </a:r>
            <a:r>
              <a:rPr sz="1300">
                <a:solidFill>
                  <a:srgbClr val="F5F7FA"/>
                </a:solidFill>
              </a:rPr>
              <a:t>Synthesizes tactile board-marked timber grain, visible form-tie seams, and bush-hammered aggregate textures.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E1B96E"/>
                </a:solidFill>
              </a:rPr>
              <a:t>Modular Fenestration: </a:t>
            </a:r>
            <a:r>
              <a:rPr sz="1300">
                <a:solidFill>
                  <a:srgbClr val="F5F7FA"/>
                </a:solidFill>
              </a:rPr>
              <a:t>Substitutes commercial glass with deeply recessed horizontal ribbon windows, solid precast parapets, and concrete louvers.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E1B96E"/>
                </a:solidFill>
              </a:rPr>
              <a:t>Monumental Shadows: </a:t>
            </a:r>
            <a:r>
              <a:rPr sz="1300">
                <a:solidFill>
                  <a:srgbClr val="F5F7FA"/>
                </a:solidFill>
              </a:rPr>
              <a:t>Deep embrasures create crisp, high-contrast geometric cast shadows under raking daylight.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E1B96E"/>
                </a:solidFill>
              </a:rPr>
              <a:t>Cantilevered Tectonics: </a:t>
            </a:r>
            <a:r>
              <a:rPr sz="1300">
                <a:solidFill>
                  <a:srgbClr val="F5F7FA"/>
                </a:solidFill>
              </a:rPr>
              <a:t>Aggressively projects heavy upper floor plates and exposed waffle slab soffits without geometric collapse.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B96E"/>
                </a:solidFill>
              </a:defRPr>
            </a:pPr>
            <a:r>
              <a:t>06. STYLE ISOLATION AUDIT</a:t>
            </a:r>
          </a:p>
          <a:p>
            <a:pPr>
              <a:defRPr sz="2400" b="1">
                <a:solidFill>
                  <a:srgbClr val="F5F7FA"/>
                </a:solidFill>
              </a:defRPr>
            </a:pPr>
            <a:r>
              <a:t>Anti-Leakage Probing: Testing Competing Architectural Styles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714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73C3EB"/>
                </a:solidFill>
              </a:defRPr>
            </a:pPr>
            <a:r>
              <a:t>Qualitative Audit Across 8 Competing Movements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1200">
                <a:solidFill>
                  <a:srgbClr val="F5F7FA"/>
                </a:solidFill>
              </a:rPr>
              <a:t>Gothic                : </a:t>
            </a:r>
            <a:r>
              <a:rPr sz="1200">
                <a:solidFill>
                  <a:srgbClr val="AAB2C0"/>
                </a:solidFill>
              </a:rPr>
              <a:t>Stark angular roofline, planar concrete; no pointed arches observed  </a:t>
            </a:r>
            <a:r>
              <a:rPr b="1" sz="1100">
                <a:solidFill>
                  <a:srgbClr val="87D79B"/>
                </a:solidFill>
              </a:rPr>
              <a:t>[No obvious leakage]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F5F7FA"/>
                </a:solidFill>
              </a:rPr>
              <a:t>Classical &amp; Baroque   : </a:t>
            </a:r>
            <a:r>
              <a:rPr sz="1200">
                <a:solidFill>
                  <a:srgbClr val="AAB2C0"/>
                </a:solidFill>
              </a:rPr>
              <a:t>Cantilevered horizontal plates, rectangular piers; no pediments observed  </a:t>
            </a:r>
            <a:r>
              <a:rPr b="1" sz="1100">
                <a:solidFill>
                  <a:srgbClr val="87D79B"/>
                </a:solidFill>
              </a:rPr>
              <a:t>[No obvious leakage]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F5F7FA"/>
                </a:solidFill>
              </a:rPr>
              <a:t>Postmodernism         : </a:t>
            </a:r>
            <a:r>
              <a:rPr sz="1200">
                <a:solidFill>
                  <a:srgbClr val="AAB2C0"/>
                </a:solidFill>
              </a:rPr>
              <a:t>Bush-hammered concrete, modular grid, gray palette; no pastels observed  </a:t>
            </a:r>
            <a:r>
              <a:rPr b="1" sz="1100">
                <a:solidFill>
                  <a:srgbClr val="87D79B"/>
                </a:solidFill>
              </a:rPr>
              <a:t>[No obvious leakage]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F5F7FA"/>
                </a:solidFill>
              </a:rPr>
              <a:t>Bauhaus / Early Modern: </a:t>
            </a:r>
            <a:r>
              <a:rPr sz="1200">
                <a:solidFill>
                  <a:srgbClr val="AAB2C0"/>
                </a:solidFill>
              </a:rPr>
              <a:t>Thick textured cast-in-place concrete; no thin steel curtain walls observed  </a:t>
            </a:r>
            <a:r>
              <a:rPr b="1" sz="1100">
                <a:solidFill>
                  <a:srgbClr val="87D79B"/>
                </a:solidFill>
              </a:rPr>
              <a:t>[No obvious leakage]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F5F7FA"/>
                </a:solidFill>
              </a:rPr>
              <a:t>Commercial Glass      : </a:t>
            </a:r>
            <a:r>
              <a:rPr sz="1200">
                <a:solidFill>
                  <a:srgbClr val="AAB2C0"/>
                </a:solidFill>
              </a:rPr>
              <a:t>Heavy shear walls dominate; narrow slit windows; no glass towers observed  </a:t>
            </a:r>
            <a:r>
              <a:rPr b="1" sz="1100">
                <a:solidFill>
                  <a:srgbClr val="87D79B"/>
                </a:solidFill>
              </a:rPr>
              <a:t>[No obvious leakage]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F5F7FA"/>
                </a:solidFill>
              </a:rPr>
              <a:t>Art Nouveau           : </a:t>
            </a:r>
            <a:r>
              <a:rPr sz="1200">
                <a:solidFill>
                  <a:srgbClr val="AAB2C0"/>
                </a:solidFill>
              </a:rPr>
              <a:t>Heavy rectangular cast concrete canopy portal; no organic curves observed  </a:t>
            </a:r>
            <a:r>
              <a:rPr b="1" sz="1100">
                <a:solidFill>
                  <a:srgbClr val="87D79B"/>
                </a:solidFill>
              </a:rPr>
              <a:t>[No obvious leakage]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F5F7FA"/>
                </a:solidFill>
              </a:rPr>
              <a:t>High-Tech Cladding    : </a:t>
            </a:r>
            <a:r>
              <a:rPr sz="1200">
                <a:solidFill>
                  <a:srgbClr val="AAB2C0"/>
                </a:solidFill>
              </a:rPr>
              <a:t>Unfinished gray concrete panels with form-tie holes; no slick finishes observed  </a:t>
            </a:r>
            <a:r>
              <a:rPr b="1" sz="1100">
                <a:solidFill>
                  <a:srgbClr val="87D79B"/>
                </a:solidFill>
              </a:rPr>
              <a:t>[No obvious leakage]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B96E"/>
                </a:solidFill>
              </a:defRPr>
            </a:pPr>
            <a:r>
              <a:t>07. RESNET-34 EMBEDDING AUDIT</a:t>
            </a:r>
          </a:p>
          <a:p>
            <a:pPr>
              <a:defRPr sz="2400" b="1">
                <a:solidFill>
                  <a:srgbClr val="F5F7FA"/>
                </a:solidFill>
              </a:defRPr>
            </a:pPr>
            <a:r>
              <a:t>Feature-Space Similarity Analysis: Memorization vs. Generalization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146304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AB2C0"/>
                </a:solidFill>
              </a:defRPr>
            </a:pPr>
            <a:r>
              <a:t>0.7028 ± 0.07</a:t>
            </a:r>
          </a:p>
          <a:p>
            <a:pPr>
              <a:spcBef>
                <a:spcPts val="200"/>
              </a:spcBef>
              <a:defRPr sz="1200" b="1">
                <a:solidFill>
                  <a:srgbClr val="F5F7FA"/>
                </a:solidFill>
              </a:defRPr>
            </a:pPr>
            <a:r>
              <a:t>Train vs. Train Baseline</a:t>
            </a:r>
          </a:p>
          <a:p>
            <a:pPr>
              <a:defRPr sz="1000">
                <a:solidFill>
                  <a:srgbClr val="AAB2C0"/>
                </a:solidFill>
              </a:defRPr>
            </a:pPr>
            <a:r>
              <a:t>Excluding self-similarity diagonal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146304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7830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1B96E"/>
                </a:solidFill>
              </a:defRPr>
            </a:pPr>
            <a:r>
              <a:t>0.6786 ± 0.08</a:t>
            </a:r>
          </a:p>
          <a:p>
            <a:pPr>
              <a:spcBef>
                <a:spcPts val="200"/>
              </a:spcBef>
              <a:defRPr sz="1200" b="1">
                <a:solidFill>
                  <a:srgbClr val="F5F7FA"/>
                </a:solidFill>
              </a:defRPr>
            </a:pPr>
            <a:r>
              <a:t>Generated vs. Train</a:t>
            </a:r>
          </a:p>
          <a:p>
            <a:pPr>
              <a:defRPr sz="1000">
                <a:solidFill>
                  <a:srgbClr val="AAB2C0"/>
                </a:solidFill>
              </a:defRPr>
            </a:pPr>
            <a:r>
              <a:t>Generated samples are more diverse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146304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830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73C3EB"/>
                </a:solidFill>
              </a:defRPr>
            </a:pPr>
            <a:r>
              <a:t>0.6901 ± 0.07</a:t>
            </a:r>
          </a:p>
          <a:p>
            <a:pPr>
              <a:spcBef>
                <a:spcPts val="200"/>
              </a:spcBef>
              <a:defRPr sz="1200" b="1">
                <a:solidFill>
                  <a:srgbClr val="F5F7FA"/>
                </a:solidFill>
              </a:defRPr>
            </a:pPr>
            <a:r>
              <a:t>Generated vs. Held-Out</a:t>
            </a:r>
          </a:p>
          <a:p>
            <a:pPr>
              <a:defRPr sz="1000">
                <a:solidFill>
                  <a:srgbClr val="AAB2C0"/>
                </a:solidFill>
              </a:defRPr>
            </a:pPr>
            <a:r>
              <a:t>Strong alignment with test domain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146304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7830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87D79B"/>
                </a:solidFill>
              </a:defRPr>
            </a:pPr>
            <a:r>
              <a:t>0.8581</a:t>
            </a:r>
          </a:p>
          <a:p>
            <a:pPr>
              <a:spcBef>
                <a:spcPts val="200"/>
              </a:spcBef>
              <a:defRPr sz="1200" b="1">
                <a:solidFill>
                  <a:srgbClr val="F5F7FA"/>
                </a:solidFill>
              </a:defRPr>
            </a:pPr>
            <a:r>
              <a:t>Highest Similarity Trigger</a:t>
            </a:r>
          </a:p>
          <a:p>
            <a:pPr>
              <a:defRPr sz="1000">
                <a:solidFill>
                  <a:srgbClr val="AAB2C0"/>
                </a:solidFill>
              </a:defRPr>
            </a:pPr>
            <a:r>
              <a:t>ARC_0018: novel composition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0728655" cy="283464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66160"/>
            <a:ext cx="102714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F7FA"/>
                </a:solidFill>
              </a:defRPr>
            </a:pPr>
            <a:r>
              <a:t>Visual Inspection Findings &amp; Generalization Boundaries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31920"/>
            <a:ext cx="10241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300">
                <a:solidFill>
                  <a:srgbClr val="F5F7FA"/>
                </a:solidFill>
              </a:rPr>
              <a:t>Corrected Baseline Methodology: </a:t>
            </a:r>
            <a:r>
              <a:rPr sz="1300">
                <a:solidFill>
                  <a:srgbClr val="AAB2C0"/>
                </a:solidFill>
              </a:rPr>
              <a:t>Earlier diagonal inclusion inflated baseline to 0.7163; corrected off-diagonal baseline is 0.7028. Generated-to-train similarity (0.6786) is slightly lower, showing healthy diversity.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E1B96E"/>
                </a:solidFill>
              </a:rPr>
              <a:t>Visual Inspection of High-Similarity Pairs: </a:t>
            </a:r>
            <a:r>
              <a:rPr sz="1300">
                <a:solidFill>
                  <a:srgbClr val="AAB2C0"/>
                </a:solidFill>
              </a:rPr>
              <a:t>Visual inspection of pairs &gt;= 0.75 (such as lora_eval_03 vs ARC_0018 at 0.8581) did not reveal obvious reproduction of distinctive silhouettes, camera viewpoints, or fenestration patterns. Similarity is driven by shared material and lighting properties. This does not constitute a definitive test for memorization.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F5F7FA"/>
                </a:solidFill>
              </a:rPr>
              <a:t>Held-Out Generalization Boundary: </a:t>
            </a:r>
            <a:r>
              <a:rPr sz="1300">
                <a:solidFill>
                  <a:srgbClr val="AAB2C0"/>
                </a:solidFill>
              </a:rPr>
              <a:t>The generated samples contain architectural characteristics also present in the held-out Brutalism images (waffle slab soffits, brise-soleil fins). Because base SDXL already possesses broad architectural knowledge and the test set is small (3 images), this observation cannot isolate LoRA-specific generalization.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B96E"/>
                </a:solidFill>
              </a:defRPr>
            </a:pPr>
            <a:r>
              <a:t>08. CONDITIONING LIMITATION AUDIT</a:t>
            </a:r>
          </a:p>
          <a:p>
            <a:pPr>
              <a:defRPr sz="2400" b="1">
                <a:solidFill>
                  <a:srgbClr val="F5F7FA"/>
                </a:solidFill>
              </a:defRPr>
            </a:pPr>
            <a:r>
              <a:t>Diagnostic Finding: The Identical Template Caption Bottleneck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714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1B96E"/>
                </a:solidFill>
              </a:defRPr>
            </a:pPr>
            <a:r>
              <a:t>100% Caption Redundancy Across Training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10241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3C3EB"/>
                </a:solidFill>
              </a:defRPr>
            </a:pPr>
            <a:r>
              <a:t>THE RUN 1 CAPTION (APPLIED IDENTICALLY TO ALL 22 IMAGES):</a:t>
            </a:r>
          </a:p>
          <a:p>
            <a:pPr>
              <a:spcBef>
                <a:spcPts val="400"/>
              </a:spcBef>
              <a:defRPr sz="1300" i="1">
                <a:solidFill>
                  <a:srgbClr val="E1B96E"/>
                </a:solidFill>
              </a:defRPr>
            </a:pPr>
            <a:r>
              <a:t>"Brutalist architecture, monolithic raw concrete facade with visible board-marked texture, massive geometric cantilevered volumes, deep-set rectangular window embrasures, bold structural piers, strong geometric shadow patterns, natural daylight, architectural photography"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F5F7FA"/>
                </a:solidFill>
              </a:rPr>
              <a:t>Monolithic Style Collapse: </a:t>
            </a:r>
            <a:r>
              <a:rPr sz="1300">
                <a:solidFill>
                  <a:srgbClr val="AAB2C0"/>
                </a:solidFill>
              </a:rPr>
              <a:t>Because text encoders were frozen and all 22 captions were identical, the UNet received an invariant conditioning embedding at every step. It learned a single global style vector rather than individual token-to-feature alignments.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F5F7FA"/>
                </a:solidFill>
              </a:rPr>
              <a:t>Token Disentanglement Failure: </a:t>
            </a:r>
            <a:r>
              <a:rPr sz="1300">
                <a:solidFill>
                  <a:srgbClr val="AAB2C0"/>
                </a:solidFill>
              </a:rPr>
              <a:t>The model cannot distinguish 'waffle slab' from 'cantilever' or 'brise-soleil'. Prompting for specific tectonic features relies heavily on base SDXL's spatial prior rather than the adapter.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F5F7FA"/>
                </a:solidFill>
              </a:rPr>
              <a:t>Factual Material Contradictions: </a:t>
            </a:r>
            <a:r>
              <a:rPr sz="1300">
                <a:solidFill>
                  <a:srgbClr val="AAB2C0"/>
                </a:solidFill>
              </a:rPr>
              <a:t>The template claims 'board-marked texture' for smooth precast panel blocks (ARC_0012) and 'window embrasures' for open-air stadium grandstands with no windows (ARC_0008).</a:t>
            </a: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F5F7FA"/>
                </a:solidFill>
              </a:rPr>
              <a:t>Key Experimental Insight: </a:t>
            </a:r>
            <a:r>
              <a:rPr sz="1300">
                <a:solidFill>
                  <a:srgbClr val="AAB2C0"/>
                </a:solidFill>
              </a:rPr>
              <a:t>Identified the primary conditioning bottleneck through data auditing rather than blindly increasing training steps.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B96E"/>
                </a:solidFill>
              </a:defRPr>
            </a:pPr>
            <a:r>
              <a:t>09. HYPOTHESIS-DRIVEN REFINEMENT</a:t>
            </a:r>
          </a:p>
          <a:p>
            <a:pPr>
              <a:defRPr sz="2400" b="1">
                <a:solidFill>
                  <a:srgbClr val="F5F7FA"/>
                </a:solidFill>
              </a:defRPr>
            </a:pPr>
            <a:r>
              <a:t>Future Work &amp; Enhancement: Run 2A Controlled Experiment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87D79B"/>
                </a:solidFill>
              </a:defRPr>
            </a:pPr>
            <a:r>
              <a:t>Single-Variable Experimental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The Single-Variable Hypothesis: </a:t>
            </a:r>
            <a:r>
              <a:rPr sz="1300">
                <a:solidFill>
                  <a:srgbClr val="AAB2C0"/>
                </a:solidFill>
              </a:rPr>
              <a:t>Holding dataset images, base model, rank, learning rate, and step budget constant, modifying only captions into instance-specific descriptions will improve attribute conditioning.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Strict Controls Maintained: </a:t>
            </a:r>
            <a:r>
              <a:rPr sz="1300">
                <a:solidFill>
                  <a:srgbClr val="AAB2C0"/>
                </a:solidFill>
              </a:rPr>
              <a:t>Same 22 Brutalism images, same SDXL 1.0 + FP16 VAE, same Rank 16 / Alpha 16, same LR (1e-4), same 330 step budget.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No Confounding Variables: </a:t>
            </a:r>
            <a:r>
              <a:rPr sz="1300">
                <a:solidFill>
                  <a:srgbClr val="AAB2C0"/>
                </a:solidFill>
              </a:rPr>
              <a:t>Avoid simultaneously changing text encoder training or trigger tokens; cleanly isolate caption quality as the experimental variable.</a:t>
            </a:r>
          </a:p>
          <a:p>
            <a:pPr>
              <a:spcBef>
                <a:spcPts val="1000"/>
              </a:spcBef>
            </a:pPr>
            <a:r>
              <a:rPr b="1" sz="1300">
                <a:solidFill>
                  <a:srgbClr val="F5F7FA"/>
                </a:solidFill>
              </a:rPr>
              <a:t>Evaluation Plan: </a:t>
            </a:r>
            <a:r>
              <a:rPr sz="1300">
                <a:solidFill>
                  <a:srgbClr val="AAB2C0"/>
                </a:solidFill>
              </a:rPr>
              <a:t>Systematically compare Run 1 vs. Run 2A on attribute disentanglement (waffle slabs, sun louvers, modular balconies).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1B96E"/>
                </a:solidFill>
              </a:defRPr>
            </a:pPr>
            <a:r>
              <a:t>9-Attribute Grounded Caption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3C3EB"/>
                </a:solidFill>
              </a:defRPr>
            </a:pPr>
            <a:r>
              <a:t>CAPTION FRAMEWORK DIMENSIONS:</a:t>
            </a:r>
          </a:p>
          <a:p>
            <a:pPr>
              <a:spcBef>
                <a:spcPts val="500"/>
              </a:spcBef>
              <a:defRPr sz="1200">
                <a:solidFill>
                  <a:srgbClr val="F5F7FA"/>
                </a:solidFill>
              </a:defRPr>
            </a:pPr>
            <a:r>
              <a:t>1. Building Typology (Library, Housing Block, Stadium)</a:t>
            </a:r>
          </a:p>
          <a:p>
            <a:pPr>
              <a:spcBef>
                <a:spcPts val="500"/>
              </a:spcBef>
              <a:defRPr sz="1200">
                <a:solidFill>
                  <a:srgbClr val="F5F7FA"/>
                </a:solidFill>
              </a:defRPr>
            </a:pPr>
            <a:r>
              <a:t>2. Primary Massing (Stepped, Monolithic, Tiered)</a:t>
            </a:r>
          </a:p>
          <a:p>
            <a:pPr>
              <a:spcBef>
                <a:spcPts val="500"/>
              </a:spcBef>
              <a:defRPr sz="1200">
                <a:solidFill>
                  <a:srgbClr val="F5F7FA"/>
                </a:solidFill>
              </a:defRPr>
            </a:pPr>
            <a:r>
              <a:t>3. Structural System (Cantilever, Colonnade, Shear Wall)</a:t>
            </a:r>
          </a:p>
          <a:p>
            <a:pPr>
              <a:spcBef>
                <a:spcPts val="500"/>
              </a:spcBef>
              <a:defRPr sz="1200">
                <a:solidFill>
                  <a:srgbClr val="F5F7FA"/>
                </a:solidFill>
              </a:defRPr>
            </a:pPr>
            <a:r>
              <a:t>4. Specific Finish (Board-Marked, Bush-Hammered, Precast)</a:t>
            </a:r>
          </a:p>
          <a:p>
            <a:pPr>
              <a:spcBef>
                <a:spcPts val="500"/>
              </a:spcBef>
              <a:defRPr sz="1200">
                <a:solidFill>
                  <a:srgbClr val="F5F7FA"/>
                </a:solidFill>
              </a:defRPr>
            </a:pPr>
            <a:r>
              <a:t>5. Fenestration (Horizontal Ribbon, Recessed Embrasures)</a:t>
            </a:r>
          </a:p>
          <a:p>
            <a:pPr>
              <a:spcBef>
                <a:spcPts val="500"/>
              </a:spcBef>
              <a:defRPr sz="1200">
                <a:solidFill>
                  <a:srgbClr val="F5F7FA"/>
                </a:solidFill>
              </a:defRPr>
            </a:pPr>
            <a:r>
              <a:t>6. Circulation/Tectonics (Elevated Walkway, Stair Tower)</a:t>
            </a:r>
          </a:p>
          <a:p>
            <a:pPr>
              <a:spcBef>
                <a:spcPts val="500"/>
              </a:spcBef>
              <a:defRPr sz="1200">
                <a:solidFill>
                  <a:srgbClr val="F5F7FA"/>
                </a:solidFill>
              </a:defRPr>
            </a:pPr>
            <a:r>
              <a:t>7. Lighting &amp; Weather (Direct Sunlight, Overcast Diffuse)</a:t>
            </a:r>
          </a:p>
          <a:p>
            <a:pPr>
              <a:spcBef>
                <a:spcPts val="500"/>
              </a:spcBef>
              <a:defRPr sz="1200">
                <a:solidFill>
                  <a:srgbClr val="F5F7FA"/>
                </a:solidFill>
              </a:defRPr>
            </a:pPr>
            <a:r>
              <a:t>8. Viewpoint &amp; Scale (Eye-Level, Low-Angle Street View)</a:t>
            </a:r>
          </a:p>
          <a:p>
            <a:pPr>
              <a:spcBef>
                <a:spcPts val="500"/>
              </a:spcBef>
              <a:defRPr sz="1200">
                <a:solidFill>
                  <a:srgbClr val="F5F7FA"/>
                </a:solidFill>
              </a:defRPr>
            </a:pPr>
            <a:r>
              <a:t>9. Style Anchor (Brutalist Architecture)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1B96E"/>
                </a:solidFill>
              </a:defRPr>
            </a:pPr>
            <a:r>
              <a:t>10. OPEN SCIENCE &amp; DOCUMENTATION</a:t>
            </a:r>
          </a:p>
          <a:p>
            <a:pPr>
              <a:defRPr sz="2400" b="1">
                <a:solidFill>
                  <a:srgbClr val="F5F7FA"/>
                </a:solidFill>
              </a:defRPr>
            </a:pPr>
            <a:r>
              <a:t>Repository &amp; Reproducibility Package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73C3EB"/>
                </a:solidFill>
              </a:defRPr>
            </a:pPr>
            <a:r>
              <a:t>Complete Documentation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200">
                <a:solidFill>
                  <a:srgbClr val="F5F7FA"/>
                </a:solidFill>
              </a:rPr>
              <a:t>PORTFOLIO_CASE_STUDY.md: </a:t>
            </a:r>
            <a:r>
              <a:rPr sz="1200">
                <a:solidFill>
                  <a:srgbClr val="AAB2C0"/>
                </a:solidFill>
              </a:rPr>
              <a:t>1–2 page executive project summary.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5F7FA"/>
                </a:solidFill>
              </a:rPr>
              <a:t>README.md: </a:t>
            </a:r>
            <a:r>
              <a:rPr sz="1200">
                <a:solidFill>
                  <a:srgbClr val="AAB2C0"/>
                </a:solidFill>
              </a:rPr>
              <a:t>Repository manual indexing every file and quickstart.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5F7FA"/>
                </a:solidFill>
              </a:rPr>
              <a:t>DATASET_CARD.md: </a:t>
            </a:r>
            <a:r>
              <a:rPr sz="1200">
                <a:solidFill>
                  <a:srgbClr val="AAB2C0"/>
                </a:solidFill>
              </a:rPr>
              <a:t>Provenance, licenses, exclusions, and splits.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5F7FA"/>
                </a:solidFill>
              </a:rPr>
              <a:t>MODEL_CARD.md: </a:t>
            </a:r>
            <a:r>
              <a:rPr sz="1200">
                <a:solidFill>
                  <a:srgbClr val="AAB2C0"/>
                </a:solidFill>
              </a:rPr>
              <a:t>SDXL LoRA adapter card, hyperparameters, limits.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5F7FA"/>
                </a:solidFill>
              </a:rPr>
              <a:t>EVALUATION.md: </a:t>
            </a:r>
            <a:r>
              <a:rPr sz="1200">
                <a:solidFill>
                  <a:srgbClr val="AAB2C0"/>
                </a:solidFill>
              </a:rPr>
              <a:t>Complete empirical findings with evidence labels.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5F7FA"/>
                </a:solidFill>
              </a:rPr>
              <a:t>RUN_2_DECISION.md: </a:t>
            </a:r>
            <a:r>
              <a:rPr sz="1200">
                <a:solidFill>
                  <a:srgbClr val="AAB2C0"/>
                </a:solidFill>
              </a:rPr>
              <a:t>Decision record and Run 2A experimental design.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5F7FA"/>
                </a:solidFill>
              </a:rPr>
              <a:t>evaluation/caption_audit.md: </a:t>
            </a:r>
            <a:r>
              <a:rPr sz="1200">
                <a:solidFill>
                  <a:srgbClr val="AAB2C0"/>
                </a:solidFill>
              </a:rPr>
              <a:t>Conditioning limitation report.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E222A"/>
          </a:solidFill>
          <a:ln w="12700">
            <a:solidFill>
              <a:srgbClr val="32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1B96E"/>
                </a:solidFill>
              </a:defRPr>
            </a:pPr>
            <a:r>
              <a:t>Reproducibility &amp; Execution Artifacts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200">
                <a:solidFill>
                  <a:srgbClr val="F5F7FA"/>
                </a:solidFill>
              </a:rPr>
              <a:t>requirements.txt &amp; environment.txt: </a:t>
            </a:r>
            <a:r>
              <a:rPr sz="1200">
                <a:solidFill>
                  <a:srgbClr val="AAB2C0"/>
                </a:solidFill>
              </a:rPr>
              <a:t>Pinned dependencies and runtime specs.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5F7FA"/>
                </a:solidFill>
              </a:rPr>
              <a:t>training_config.json: </a:t>
            </a:r>
            <a:r>
              <a:rPr sz="1200">
                <a:solidFill>
                  <a:srgbClr val="AAB2C0"/>
                </a:solidFill>
              </a:rPr>
              <a:t>Exact training parameters from hparams.yml.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5F7FA"/>
                </a:solidFill>
              </a:rPr>
              <a:t>dataset_manifest.csv: </a:t>
            </a:r>
            <a:r>
              <a:rPr sz="1200">
                <a:solidFill>
                  <a:srgbClr val="AAB2C0"/>
                </a:solidFill>
              </a:rPr>
              <a:t>Complete metadata for all 28 Brutalism images.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5F7FA"/>
                </a:solidFill>
              </a:rPr>
              <a:t>scripts/run_memorization_audit.py: </a:t>
            </a:r>
            <a:r>
              <a:rPr sz="1200">
                <a:solidFill>
                  <a:srgbClr val="AAB2C0"/>
                </a:solidFill>
              </a:rPr>
              <a:t>Automated ResNet-34 similarity calculator.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5F7FA"/>
                </a:solidFill>
              </a:rPr>
              <a:t>scripts/generate_base_vs_lora_panels.py: </a:t>
            </a:r>
            <a:r>
              <a:rPr sz="1200">
                <a:solidFill>
                  <a:srgbClr val="AAB2C0"/>
                </a:solidFill>
              </a:rPr>
              <a:t>Side-by-side comparison generator.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5F7FA"/>
                </a:solidFill>
              </a:rPr>
              <a:t>scripts/run_controlled_evaluation.py: </a:t>
            </a:r>
            <a:r>
              <a:rPr sz="1200">
                <a:solidFill>
                  <a:srgbClr val="AAB2C0"/>
                </a:solidFill>
              </a:rPr>
              <a:t>Automated sweep and checkpoint runner.</a:t>
            </a: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F5F7FA"/>
                </a:solidFill>
              </a:rPr>
              <a:t>colab/brutalism_sdxl_lora_eval.ipynb: </a:t>
            </a:r>
            <a:r>
              <a:rPr sz="1200">
                <a:solidFill>
                  <a:srgbClr val="AAB2C0"/>
                </a:solidFill>
              </a:rPr>
              <a:t>1-click Colab evaluation runner.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